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DCB06-5971-EC14-D8AE-CA1CEE1FDB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85B2DE-B6F8-551B-F40E-9BBD4E1641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8E2E6BB-44FA-5427-2102-A48D053BB587}"/>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5" name="Footer Placeholder 4">
            <a:extLst>
              <a:ext uri="{FF2B5EF4-FFF2-40B4-BE49-F238E27FC236}">
                <a16:creationId xmlns:a16="http://schemas.microsoft.com/office/drawing/2014/main" id="{A2937F60-6B16-A4CF-565E-8356AA3E4A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029285-7371-9F03-CD73-9A35ED723CA1}"/>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374953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2D34D-CBEB-042A-E002-2C4013EDD8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BDE416-D6FD-04E3-09EF-03E6B0F5C7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C36B5F-4B4E-ABE6-EF30-11A3D8956FB4}"/>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5" name="Footer Placeholder 4">
            <a:extLst>
              <a:ext uri="{FF2B5EF4-FFF2-40B4-BE49-F238E27FC236}">
                <a16:creationId xmlns:a16="http://schemas.microsoft.com/office/drawing/2014/main" id="{40399E93-201E-3FB3-410B-76F36A5442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23841A-F5EF-420D-E354-99095A0B438E}"/>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2716899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B32C-478A-0535-2829-73E78EE727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6A8750-1C80-3FCC-5E82-671B09EFBC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F2A492-4508-500F-1AC5-A78A7049CB87}"/>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5" name="Footer Placeholder 4">
            <a:extLst>
              <a:ext uri="{FF2B5EF4-FFF2-40B4-BE49-F238E27FC236}">
                <a16:creationId xmlns:a16="http://schemas.microsoft.com/office/drawing/2014/main" id="{A6A6D0BD-BF07-AA62-880E-F96A75B825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4CE1EB-F2D2-64C1-6B8A-157A542B03A7}"/>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68071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5D66-D413-4C27-94B8-E079329E94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4EBBDD-7C28-5DD4-B96C-4287885579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27BF69-4540-4735-EB8C-FE0CC4CB8F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3DDB53-5FBF-9912-D9BD-761214BE6560}"/>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6" name="Footer Placeholder 5">
            <a:extLst>
              <a:ext uri="{FF2B5EF4-FFF2-40B4-BE49-F238E27FC236}">
                <a16:creationId xmlns:a16="http://schemas.microsoft.com/office/drawing/2014/main" id="{2E7CC8DE-1975-9532-E646-ECEA87D91D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4150FA-6F6E-02AE-3C62-D20FC23AAE07}"/>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3980120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4110-2910-4E52-44BB-0762345346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BCD78E-8BB1-0CA1-023E-46049FAB3B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664B0C-AE78-C6C7-6A59-0A38B5E1DE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A3A4AE-115E-025D-3643-945A5E378C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2AB550-19D8-8DA5-B5C4-312252E8E5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754163-D49F-EC8B-60AB-1F9A220F7CEA}"/>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8" name="Footer Placeholder 7">
            <a:extLst>
              <a:ext uri="{FF2B5EF4-FFF2-40B4-BE49-F238E27FC236}">
                <a16:creationId xmlns:a16="http://schemas.microsoft.com/office/drawing/2014/main" id="{F2C94F1F-2852-0B4A-EA39-5C4620DBCD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D566EF-6F64-69DB-2C07-8D0D2316F289}"/>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2591446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C3AAA-008C-02AC-A821-A334E9D99E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D98713-1200-6903-71F3-49FD4491234B}"/>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4" name="Footer Placeholder 3">
            <a:extLst>
              <a:ext uri="{FF2B5EF4-FFF2-40B4-BE49-F238E27FC236}">
                <a16:creationId xmlns:a16="http://schemas.microsoft.com/office/drawing/2014/main" id="{DE916572-0466-080C-596B-DC18D3DDF6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70348F-75AC-FB67-7EB6-FF78618499BB}"/>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2819732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F3974C-C54C-6C87-A8FD-3E8A9BF4EAC5}"/>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3" name="Footer Placeholder 2">
            <a:extLst>
              <a:ext uri="{FF2B5EF4-FFF2-40B4-BE49-F238E27FC236}">
                <a16:creationId xmlns:a16="http://schemas.microsoft.com/office/drawing/2014/main" id="{789B31F5-10DE-D4EE-9914-86ABF58EA4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217FD7-BEF5-5EE3-78EF-BAA235959722}"/>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3439341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B5A70-5948-775E-A5B7-FD99A2C18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596B80-1D1D-309C-FCD3-0EE45CD59A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BFAB58-C683-4CB6-4B64-ACDF21F214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047093-A50D-7AC5-8197-FD30AAB7C302}"/>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6" name="Footer Placeholder 5">
            <a:extLst>
              <a:ext uri="{FF2B5EF4-FFF2-40B4-BE49-F238E27FC236}">
                <a16:creationId xmlns:a16="http://schemas.microsoft.com/office/drawing/2014/main" id="{B06FBD66-D71B-F6B4-390C-553B54626F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8277C2-8863-FF0A-7423-321FA645002D}"/>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759050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7B177-C02F-C3E5-AF2C-25E8FCC1F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375061-8DFB-CBB6-33BF-CCA755FBB9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A50DD617-8661-4139-260B-BCAD8BEB80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FFABBA-77BD-8827-3E21-969F587D4B6E}"/>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6" name="Footer Placeholder 5">
            <a:extLst>
              <a:ext uri="{FF2B5EF4-FFF2-40B4-BE49-F238E27FC236}">
                <a16:creationId xmlns:a16="http://schemas.microsoft.com/office/drawing/2014/main" id="{0120676F-7AA3-45D1-05A7-3719988FA2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85AC5E-D8A2-051A-59FD-693B6EFFA379}"/>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4145906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CE93-980C-35FE-F179-405A16C94FF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5E0D00-1F2A-B2F8-9F59-DCD66F5A32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838BF4-83D9-632B-EB32-DD4B9961A59F}"/>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5" name="Footer Placeholder 4">
            <a:extLst>
              <a:ext uri="{FF2B5EF4-FFF2-40B4-BE49-F238E27FC236}">
                <a16:creationId xmlns:a16="http://schemas.microsoft.com/office/drawing/2014/main" id="{EDC1DB73-A408-3684-7495-087A38BADA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2B23AD-9330-FFAE-BDD5-2B2B1BBE58F0}"/>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3683812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B856BA-7779-C850-17B3-14BF6B7459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46E95E-F212-C04F-19C7-295765085B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06CEF8-5E0B-A3C0-AE5B-19FA500C8A5D}"/>
              </a:ext>
            </a:extLst>
          </p:cNvPr>
          <p:cNvSpPr>
            <a:spLocks noGrp="1"/>
          </p:cNvSpPr>
          <p:nvPr>
            <p:ph type="dt" sz="half" idx="10"/>
          </p:nvPr>
        </p:nvSpPr>
        <p:spPr/>
        <p:txBody>
          <a:bodyPr/>
          <a:lstStyle/>
          <a:p>
            <a:fld id="{542437A0-1A72-4767-BA44-41AEB8762999}" type="datetimeFigureOut">
              <a:rPr lang="en-IN" smtClean="0"/>
              <a:t>22-01-2026</a:t>
            </a:fld>
            <a:endParaRPr lang="en-IN"/>
          </a:p>
        </p:txBody>
      </p:sp>
      <p:sp>
        <p:nvSpPr>
          <p:cNvPr id="5" name="Footer Placeholder 4">
            <a:extLst>
              <a:ext uri="{FF2B5EF4-FFF2-40B4-BE49-F238E27FC236}">
                <a16:creationId xmlns:a16="http://schemas.microsoft.com/office/drawing/2014/main" id="{B91CBD8E-CC5E-0522-C6E1-AAE1312047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277CBD-4B23-AD19-CFAF-3B4F5379F071}"/>
              </a:ext>
            </a:extLst>
          </p:cNvPr>
          <p:cNvSpPr>
            <a:spLocks noGrp="1"/>
          </p:cNvSpPr>
          <p:nvPr>
            <p:ph type="sldNum" sz="quarter" idx="12"/>
          </p:nvPr>
        </p:nvSpPr>
        <p:spPr/>
        <p:txBody>
          <a:bodyPr/>
          <a:lstStyle/>
          <a:p>
            <a:fld id="{B36B8177-1855-402A-9BBF-28A62F72584C}" type="slidenum">
              <a:rPr lang="en-IN" smtClean="0"/>
              <a:t>‹#›</a:t>
            </a:fld>
            <a:endParaRPr lang="en-IN"/>
          </a:p>
        </p:txBody>
      </p:sp>
    </p:spTree>
    <p:extLst>
      <p:ext uri="{BB962C8B-B14F-4D97-AF65-F5344CB8AC3E}">
        <p14:creationId xmlns:p14="http://schemas.microsoft.com/office/powerpoint/2010/main" val="33792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47BCC5-1E1D-EA6E-F810-2B3E86C32D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EBF92E-3F93-5B5C-8A11-63C95C6EDA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24427-45C6-191B-B86C-B4FF8BFDCA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2437A0-1A72-4767-BA44-41AEB8762999}" type="datetimeFigureOut">
              <a:rPr lang="en-IN" smtClean="0"/>
              <a:t>22-01-2026</a:t>
            </a:fld>
            <a:endParaRPr lang="en-IN"/>
          </a:p>
        </p:txBody>
      </p:sp>
      <p:sp>
        <p:nvSpPr>
          <p:cNvPr id="5" name="Footer Placeholder 4">
            <a:extLst>
              <a:ext uri="{FF2B5EF4-FFF2-40B4-BE49-F238E27FC236}">
                <a16:creationId xmlns:a16="http://schemas.microsoft.com/office/drawing/2014/main" id="{3EAB2250-FC2B-719E-5FB0-C7667636F9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38A2312-C6F5-79CD-A556-7DDD89EA7B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6B8177-1855-402A-9BBF-28A62F72584C}" type="slidenum">
              <a:rPr lang="en-IN" smtClean="0"/>
              <a:t>‹#›</a:t>
            </a:fld>
            <a:endParaRPr lang="en-IN"/>
          </a:p>
        </p:txBody>
      </p:sp>
    </p:spTree>
    <p:extLst>
      <p:ext uri="{BB962C8B-B14F-4D97-AF65-F5344CB8AC3E}">
        <p14:creationId xmlns:p14="http://schemas.microsoft.com/office/powerpoint/2010/main" val="652626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2A58B-96B9-2209-3AEF-B0DDB0C3F07D}"/>
              </a:ext>
            </a:extLst>
          </p:cNvPr>
          <p:cNvSpPr>
            <a:spLocks noGrp="1"/>
          </p:cNvSpPr>
          <p:nvPr>
            <p:ph type="ctrTitle"/>
          </p:nvPr>
        </p:nvSpPr>
        <p:spPr>
          <a:xfrm>
            <a:off x="1524000" y="765313"/>
            <a:ext cx="9144000" cy="944217"/>
          </a:xfrm>
        </p:spPr>
        <p:txBody>
          <a:bodyPr>
            <a:normAutofit/>
          </a:bodyPr>
          <a:lstStyle/>
          <a:p>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537B8FA-849B-A351-A56C-5003D209D1D2}"/>
              </a:ext>
            </a:extLst>
          </p:cNvPr>
          <p:cNvSpPr>
            <a:spLocks noGrp="1"/>
          </p:cNvSpPr>
          <p:nvPr>
            <p:ph type="subTitle" idx="1"/>
          </p:nvPr>
        </p:nvSpPr>
        <p:spPr>
          <a:xfrm>
            <a:off x="1524000" y="2305879"/>
            <a:ext cx="9727096" cy="2951922"/>
          </a:xfrm>
        </p:spPr>
        <p:txBody>
          <a:bodyPr/>
          <a:lstStyle/>
          <a:p>
            <a:pPr algn="just"/>
            <a:r>
              <a:rPr lang="en-US" sz="2000" b="1" dirty="0">
                <a:latin typeface="Times New Roman" panose="02020603050405020304" pitchFamily="18" charset="0"/>
                <a:cs typeface="Times New Roman" panose="02020603050405020304" pitchFamily="18" charset="0"/>
              </a:rPr>
              <a:t>Web Scraping and Basic Data Analysis of an E-commerce Product (Smartphones</a:t>
            </a:r>
            <a:r>
              <a:rPr lang="en-US" sz="1800" b="1" dirty="0">
                <a:latin typeface="Times New Roman" panose="02020603050405020304" pitchFamily="18" charset="0"/>
                <a:cs typeface="Times New Roman" panose="02020603050405020304" pitchFamily="18" charset="0"/>
              </a:rPr>
              <a:t>)</a:t>
            </a:r>
          </a:p>
          <a:p>
            <a:pPr algn="just"/>
            <a:endParaRPr lang="en-US" sz="18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Name : Vajja Jyothi Sri Sai Lakshmi</a:t>
            </a:r>
          </a:p>
          <a:p>
            <a:r>
              <a:rPr lang="en-IN" sz="1400" dirty="0">
                <a:latin typeface="Times New Roman" panose="02020603050405020304" pitchFamily="18" charset="0"/>
                <a:cs typeface="Times New Roman" panose="02020603050405020304" pitchFamily="18" charset="0"/>
              </a:rPr>
              <a:t>Roll Number : 23471A05D8</a:t>
            </a:r>
          </a:p>
          <a:p>
            <a:r>
              <a:rPr lang="en-IN" sz="1400" dirty="0">
                <a:latin typeface="Times New Roman" panose="02020603050405020304" pitchFamily="18" charset="0"/>
                <a:cs typeface="Times New Roman" panose="02020603050405020304" pitchFamily="18" charset="0"/>
              </a:rPr>
              <a:t>Branch &amp; section : CSE-DA1</a:t>
            </a:r>
          </a:p>
        </p:txBody>
      </p:sp>
      <p:pic>
        <p:nvPicPr>
          <p:cNvPr id="5" name="Picture 4">
            <a:extLst>
              <a:ext uri="{FF2B5EF4-FFF2-40B4-BE49-F238E27FC236}">
                <a16:creationId xmlns:a16="http://schemas.microsoft.com/office/drawing/2014/main" id="{3682F631-A8BB-6058-C87B-B6105971A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784983"/>
            <a:ext cx="9144000" cy="904875"/>
          </a:xfrm>
          <a:prstGeom prst="rect">
            <a:avLst/>
          </a:prstGeom>
        </p:spPr>
      </p:pic>
      <p:pic>
        <p:nvPicPr>
          <p:cNvPr id="1026" name="Picture 2" descr="byteXL | LinkedIn">
            <a:extLst>
              <a:ext uri="{FF2B5EF4-FFF2-40B4-BE49-F238E27FC236}">
                <a16:creationId xmlns:a16="http://schemas.microsoft.com/office/drawing/2014/main" id="{B5312806-CF73-F8BF-866A-B05B1D149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386" y="4304542"/>
            <a:ext cx="2130476" cy="169890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09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4ECF8-B492-26D6-3DEB-91DED246EA93}"/>
              </a:ext>
            </a:extLst>
          </p:cNvPr>
          <p:cNvSpPr>
            <a:spLocks noGrp="1"/>
          </p:cNvSpPr>
          <p:nvPr>
            <p:ph idx="1"/>
          </p:nvPr>
        </p:nvSpPr>
        <p:spPr>
          <a:xfrm>
            <a:off x="838200" y="271305"/>
            <a:ext cx="10515600" cy="5905658"/>
          </a:xfrm>
        </p:spPr>
        <p:txBody>
          <a:bodyPr>
            <a:normAutofit fontScale="77500" lnSpcReduction="20000"/>
          </a:bodyPr>
          <a:lstStyle/>
          <a:p>
            <a:pPr marL="0" indent="0" algn="just">
              <a:buNone/>
            </a:pPr>
            <a:r>
              <a:rPr lang="en-US" sz="1900" b="1" dirty="0">
                <a:latin typeface="Times New Roman" panose="02020603050405020304" pitchFamily="18" charset="0"/>
                <a:cs typeface="Times New Roman" panose="02020603050405020304" pitchFamily="18" charset="0"/>
              </a:rPr>
              <a:t>1. What is Web Scraping?</a:t>
            </a:r>
          </a:p>
          <a:p>
            <a:pPr algn="just"/>
            <a:r>
              <a:rPr lang="en-US" sz="2100" b="1" dirty="0">
                <a:latin typeface="Times New Roman" panose="02020603050405020304" pitchFamily="18" charset="0"/>
                <a:cs typeface="Times New Roman" panose="02020603050405020304" pitchFamily="18" charset="0"/>
              </a:rPr>
              <a:t>Web scraping</a:t>
            </a:r>
            <a:r>
              <a:rPr lang="en-US" sz="2100" dirty="0">
                <a:latin typeface="Times New Roman" panose="02020603050405020304" pitchFamily="18" charset="0"/>
                <a:cs typeface="Times New Roman" panose="02020603050405020304" pitchFamily="18" charset="0"/>
              </a:rPr>
              <a:t> is the process of </a:t>
            </a:r>
            <a:r>
              <a:rPr lang="en-US" sz="2100" b="1" dirty="0">
                <a:latin typeface="Times New Roman" panose="02020603050405020304" pitchFamily="18" charset="0"/>
                <a:cs typeface="Times New Roman" panose="02020603050405020304" pitchFamily="18" charset="0"/>
              </a:rPr>
              <a:t>automatically extracting data from websites</a:t>
            </a:r>
            <a:r>
              <a:rPr lang="en-US" sz="2100" dirty="0">
                <a:latin typeface="Times New Roman" panose="02020603050405020304" pitchFamily="18" charset="0"/>
                <a:cs typeface="Times New Roman" panose="02020603050405020304" pitchFamily="18" charset="0"/>
              </a:rPr>
              <a:t> using programs instead of manually copying information.</a:t>
            </a:r>
          </a:p>
          <a:p>
            <a:pPr eaLnBrk="0" fontAlgn="base" hangingPunct="0">
              <a:lnSpc>
                <a:spcPct val="100000"/>
              </a:lnSpc>
              <a:spcBef>
                <a:spcPct val="0"/>
              </a:spcBef>
              <a:spcAft>
                <a:spcPct val="0"/>
              </a:spcAft>
            </a:pPr>
            <a:r>
              <a:rPr kumimoji="0" lang="en-US" altLang="en-US" sz="2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website structure (HTML, tags, classes)</a:t>
            </a:r>
          </a:p>
          <a:p>
            <a:pPr eaLnBrk="0" fontAlgn="base" hangingPunct="0">
              <a:lnSpc>
                <a:spcPct val="100000"/>
              </a:lnSpc>
              <a:spcBef>
                <a:spcPct val="0"/>
              </a:spcBef>
              <a:spcAft>
                <a:spcPct val="0"/>
              </a:spcAft>
            </a:pPr>
            <a:r>
              <a:rPr kumimoji="0" lang="en-US" altLang="en-US" sz="2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Scraping data from Flipkart product listing pages</a:t>
            </a:r>
          </a:p>
          <a:p>
            <a:pPr eaLnBrk="0" fontAlgn="base" hangingPunct="0">
              <a:lnSpc>
                <a:spcPct val="100000"/>
              </a:lnSpc>
              <a:spcBef>
                <a:spcPct val="0"/>
              </a:spcBef>
              <a:spcAft>
                <a:spcPct val="0"/>
              </a:spcAft>
            </a:pPr>
            <a:r>
              <a:rPr kumimoji="0" lang="en-US" altLang="en-US" sz="2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pagination (multiple pages)</a:t>
            </a:r>
          </a:p>
          <a:p>
            <a:pPr eaLnBrk="0" fontAlgn="base" hangingPunct="0">
              <a:lnSpc>
                <a:spcPct val="100000"/>
              </a:lnSpc>
              <a:spcBef>
                <a:spcPct val="0"/>
              </a:spcBef>
              <a:spcAft>
                <a:spcPct val="0"/>
              </a:spcAft>
            </a:pPr>
            <a:r>
              <a:rPr kumimoji="0" lang="en-US" altLang="en-US" sz="2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Extracting real-world e-commerce data</a:t>
            </a:r>
          </a:p>
          <a:p>
            <a:pPr marL="0" indent="0" eaLnBrk="0" fontAlgn="base" hangingPunct="0">
              <a:lnSpc>
                <a:spcPct val="100000"/>
              </a:lnSpc>
              <a:spcBef>
                <a:spcPct val="0"/>
              </a:spcBef>
              <a:spcAft>
                <a:spcPct val="0"/>
              </a:spcAft>
              <a:buNone/>
            </a:pPr>
            <a:endParaRPr kumimoji="0" lang="en-US" altLang="en-US" sz="2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buNone/>
            </a:pPr>
            <a:r>
              <a:rPr lang="en-US" sz="2100" b="1" dirty="0">
                <a:latin typeface="Times New Roman" panose="02020603050405020304" pitchFamily="18" charset="0"/>
                <a:cs typeface="Times New Roman" panose="02020603050405020304" pitchFamily="18" charset="0"/>
              </a:rPr>
              <a:t>2. Why web scraping is used :</a:t>
            </a:r>
          </a:p>
          <a:p>
            <a:pPr algn="just"/>
            <a:r>
              <a:rPr lang="en-US" sz="2100" dirty="0">
                <a:latin typeface="Times New Roman" panose="02020603050405020304" pitchFamily="18" charset="0"/>
                <a:cs typeface="Times New Roman" panose="02020603050405020304" pitchFamily="18" charset="0"/>
              </a:rPr>
              <a:t>To collect </a:t>
            </a:r>
            <a:r>
              <a:rPr lang="en-US" sz="2100" b="1" dirty="0">
                <a:latin typeface="Times New Roman" panose="02020603050405020304" pitchFamily="18" charset="0"/>
                <a:cs typeface="Times New Roman" panose="02020603050405020304" pitchFamily="18" charset="0"/>
              </a:rPr>
              <a:t>large-scale real-world data</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 To analyze </a:t>
            </a:r>
            <a:r>
              <a:rPr lang="en-US" sz="2100" b="1" dirty="0">
                <a:latin typeface="Times New Roman" panose="02020603050405020304" pitchFamily="18" charset="0"/>
                <a:cs typeface="Times New Roman" panose="02020603050405020304" pitchFamily="18" charset="0"/>
              </a:rPr>
              <a:t>market trends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 To study </a:t>
            </a:r>
            <a:r>
              <a:rPr lang="en-US" sz="2100" b="1" dirty="0">
                <a:latin typeface="Times New Roman" panose="02020603050405020304" pitchFamily="18" charset="0"/>
                <a:cs typeface="Times New Roman" panose="02020603050405020304" pitchFamily="18" charset="0"/>
              </a:rPr>
              <a:t>customer behavior</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 To support </a:t>
            </a:r>
            <a:r>
              <a:rPr lang="en-US" sz="2100" b="1" dirty="0">
                <a:latin typeface="Times New Roman" panose="02020603050405020304" pitchFamily="18" charset="0"/>
                <a:cs typeface="Times New Roman" panose="02020603050405020304" pitchFamily="18" charset="0"/>
              </a:rPr>
              <a:t>business decisions</a:t>
            </a:r>
          </a:p>
          <a:p>
            <a:pPr algn="just"/>
            <a:endParaRPr lang="en-US" sz="1700" dirty="0">
              <a:latin typeface="Times New Roman" panose="02020603050405020304" pitchFamily="18" charset="0"/>
              <a:cs typeface="Times New Roman" panose="02020603050405020304" pitchFamily="18" charset="0"/>
            </a:endParaRPr>
          </a:p>
          <a:p>
            <a:pPr marL="0" indent="0" algn="just">
              <a:buNone/>
            </a:pPr>
            <a:r>
              <a:rPr lang="en-US" sz="2300" b="1" dirty="0">
                <a:latin typeface="Times New Roman" panose="02020603050405020304" pitchFamily="18" charset="0"/>
                <a:cs typeface="Times New Roman" panose="02020603050405020304" pitchFamily="18" charset="0"/>
              </a:rPr>
              <a:t>3. In this project</a:t>
            </a:r>
          </a:p>
          <a:p>
            <a:pPr marL="0" indent="0" algn="just">
              <a:buNone/>
            </a:pPr>
            <a:r>
              <a:rPr lang="en-US" sz="2100" dirty="0">
                <a:latin typeface="Times New Roman" panose="02020603050405020304" pitchFamily="18" charset="0"/>
                <a:cs typeface="Times New Roman" panose="02020603050405020304" pitchFamily="18" charset="0"/>
              </a:rPr>
              <a:t>&gt; We scrape data from </a:t>
            </a:r>
            <a:r>
              <a:rPr lang="en-US" sz="2100" b="1" dirty="0">
                <a:latin typeface="Times New Roman" panose="02020603050405020304" pitchFamily="18" charset="0"/>
                <a:cs typeface="Times New Roman" panose="02020603050405020304" pitchFamily="18" charset="0"/>
              </a:rPr>
              <a:t>Flipkart product listing pages</a:t>
            </a:r>
            <a:r>
              <a:rPr lang="en-US" sz="2100" dirty="0">
                <a:latin typeface="Times New Roman" panose="02020603050405020304" pitchFamily="18" charset="0"/>
                <a:cs typeface="Times New Roman" panose="02020603050405020304" pitchFamily="18" charset="0"/>
              </a:rPr>
              <a:t> such as:</a:t>
            </a:r>
          </a:p>
          <a:p>
            <a:pPr algn="just"/>
            <a:r>
              <a:rPr lang="en-US" sz="2100" dirty="0">
                <a:latin typeface="Times New Roman" panose="02020603050405020304" pitchFamily="18" charset="0"/>
                <a:cs typeface="Times New Roman" panose="02020603050405020304" pitchFamily="18" charset="0"/>
              </a:rPr>
              <a:t>Brand</a:t>
            </a:r>
          </a:p>
          <a:p>
            <a:pPr algn="just"/>
            <a:r>
              <a:rPr lang="en-US" sz="2100" dirty="0">
                <a:latin typeface="Times New Roman" panose="02020603050405020304" pitchFamily="18" charset="0"/>
                <a:cs typeface="Times New Roman" panose="02020603050405020304" pitchFamily="18" charset="0"/>
              </a:rPr>
              <a:t>Discounts</a:t>
            </a:r>
          </a:p>
          <a:p>
            <a:pPr algn="just"/>
            <a:r>
              <a:rPr lang="en-US" sz="2100" dirty="0">
                <a:latin typeface="Times New Roman" panose="02020603050405020304" pitchFamily="18" charset="0"/>
                <a:cs typeface="Times New Roman" panose="02020603050405020304" pitchFamily="18" charset="0"/>
              </a:rPr>
              <a:t>Price </a:t>
            </a:r>
          </a:p>
          <a:p>
            <a:pPr algn="just"/>
            <a:r>
              <a:rPr lang="en-US" sz="2100" dirty="0">
                <a:latin typeface="Times New Roman" panose="02020603050405020304" pitchFamily="18" charset="0"/>
                <a:cs typeface="Times New Roman" panose="02020603050405020304" pitchFamily="18" charset="0"/>
              </a:rPr>
              <a:t>Ratings</a:t>
            </a:r>
          </a:p>
          <a:p>
            <a:pPr algn="just"/>
            <a:r>
              <a:rPr lang="en-US" sz="2100" dirty="0">
                <a:latin typeface="Times New Roman" panose="02020603050405020304" pitchFamily="18" charset="0"/>
                <a:cs typeface="Times New Roman" panose="02020603050405020304" pitchFamily="18" charset="0"/>
              </a:rPr>
              <a:t>Ratings&amp; reviews</a:t>
            </a:r>
          </a:p>
          <a:p>
            <a:pPr algn="just"/>
            <a:r>
              <a:rPr lang="en-US" sz="2100" dirty="0">
                <a:latin typeface="Times New Roman" panose="02020603050405020304" pitchFamily="18" charset="0"/>
                <a:cs typeface="Times New Roman" panose="02020603050405020304" pitchFamily="18" charset="0"/>
              </a:rPr>
              <a:t>Features /</a:t>
            </a:r>
            <a:r>
              <a:rPr lang="en-IN" sz="2100" dirty="0"/>
              <a:t> </a:t>
            </a:r>
            <a:r>
              <a:rPr lang="en-IN" sz="2100" dirty="0">
                <a:latin typeface="Times New Roman" panose="02020603050405020304" pitchFamily="18" charset="0"/>
                <a:cs typeface="Times New Roman" panose="02020603050405020304" pitchFamily="18" charset="0"/>
              </a:rPr>
              <a:t>Specifications</a:t>
            </a:r>
            <a:endParaRPr lang="en-US" sz="21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57734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9BD0D0-3257-1D42-0CBB-8DCA702B6324}"/>
              </a:ext>
            </a:extLst>
          </p:cNvPr>
          <p:cNvSpPr>
            <a:spLocks noGrp="1"/>
          </p:cNvSpPr>
          <p:nvPr>
            <p:ph sz="half" idx="1"/>
          </p:nvPr>
        </p:nvSpPr>
        <p:spPr>
          <a:xfrm>
            <a:off x="746760" y="0"/>
            <a:ext cx="5181600" cy="6858000"/>
          </a:xfrm>
        </p:spPr>
        <p:txBody>
          <a:bodyPr>
            <a:normAutofit fontScale="25000" lnSpcReduction="20000"/>
          </a:bodyPr>
          <a:lstStyle/>
          <a:p>
            <a:pPr marL="0" indent="0">
              <a:buNone/>
            </a:pPr>
            <a:r>
              <a:rPr lang="en-IN" sz="4400" b="1" dirty="0">
                <a:latin typeface="Times New Roman" panose="02020603050405020304" pitchFamily="18" charset="0"/>
                <a:cs typeface="Times New Roman" panose="02020603050405020304" pitchFamily="18" charset="0"/>
              </a:rPr>
              <a:t>1. Data Collection &amp; Extraction</a:t>
            </a:r>
          </a:p>
          <a:p>
            <a:r>
              <a:rPr lang="en-IN" sz="4400" i="1" dirty="0">
                <a:latin typeface="Times New Roman" panose="02020603050405020304" pitchFamily="18" charset="0"/>
                <a:cs typeface="Times New Roman" panose="02020603050405020304" pitchFamily="18" charset="0"/>
              </a:rPr>
              <a:t>(Foundation of Web Scraping)</a:t>
            </a: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Pagination handling (multiple pages)</a:t>
            </a:r>
          </a:p>
          <a:p>
            <a:r>
              <a:rPr lang="en-IN" sz="4400" dirty="0">
                <a:latin typeface="Times New Roman" panose="02020603050405020304" pitchFamily="18" charset="0"/>
                <a:cs typeface="Times New Roman" panose="02020603050405020304" pitchFamily="18" charset="0"/>
              </a:rPr>
              <a:t>HTML parsing</a:t>
            </a:r>
          </a:p>
          <a:p>
            <a:r>
              <a:rPr lang="en-IN" sz="4400" dirty="0">
                <a:latin typeface="Times New Roman" panose="02020603050405020304" pitchFamily="18" charset="0"/>
                <a:cs typeface="Times New Roman" panose="02020603050405020304" pitchFamily="18" charset="0"/>
              </a:rPr>
              <a:t>Handling missing values</a:t>
            </a:r>
          </a:p>
          <a:p>
            <a:r>
              <a:rPr lang="en-IN" sz="4400" dirty="0">
                <a:latin typeface="Times New Roman" panose="02020603050405020304" pitchFamily="18" charset="0"/>
                <a:cs typeface="Times New Roman" panose="02020603050405020304" pitchFamily="18" charset="0"/>
              </a:rPr>
              <a:t>Real-world messy data</a:t>
            </a:r>
          </a:p>
          <a:p>
            <a:pPr marL="0" indent="0">
              <a:buNone/>
            </a:pPr>
            <a:r>
              <a:rPr lang="en-IN" sz="4400" b="1" dirty="0">
                <a:latin typeface="Times New Roman" panose="02020603050405020304" pitchFamily="18" charset="0"/>
                <a:cs typeface="Times New Roman" panose="02020603050405020304" pitchFamily="18" charset="0"/>
              </a:rPr>
              <a:t>2. Descriptive Statistics &amp; Price Analysis</a:t>
            </a:r>
          </a:p>
          <a:p>
            <a:r>
              <a:rPr lang="en-IN" sz="4400" i="1" dirty="0">
                <a:latin typeface="Times New Roman" panose="02020603050405020304" pitchFamily="18" charset="0"/>
                <a:cs typeface="Times New Roman" panose="02020603050405020304" pitchFamily="18" charset="0"/>
              </a:rPr>
              <a:t>(Basic Data Analysis)</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Mean, median, standard deviation</a:t>
            </a:r>
          </a:p>
          <a:p>
            <a:r>
              <a:rPr lang="en-IN" sz="4400" dirty="0">
                <a:latin typeface="Times New Roman" panose="02020603050405020304" pitchFamily="18" charset="0"/>
                <a:cs typeface="Times New Roman" panose="02020603050405020304" pitchFamily="18" charset="0"/>
              </a:rPr>
              <a:t>Quartiles &amp; price buckets</a:t>
            </a:r>
          </a:p>
          <a:p>
            <a:r>
              <a:rPr lang="en-IN" sz="4400" dirty="0">
                <a:latin typeface="Times New Roman" panose="02020603050405020304" pitchFamily="18" charset="0"/>
                <a:cs typeface="Times New Roman" panose="02020603050405020304" pitchFamily="18" charset="0"/>
              </a:rPr>
              <a:t>Price dispersion</a:t>
            </a:r>
          </a:p>
          <a:p>
            <a:r>
              <a:rPr lang="en-IN" sz="4400" dirty="0">
                <a:latin typeface="Times New Roman" panose="02020603050405020304" pitchFamily="18" charset="0"/>
                <a:cs typeface="Times New Roman" panose="02020603050405020304" pitchFamily="18" charset="0"/>
              </a:rPr>
              <a:t>Value vs premium segmentation</a:t>
            </a:r>
          </a:p>
          <a:p>
            <a:pPr marL="0" indent="0">
              <a:buNone/>
            </a:pPr>
            <a:r>
              <a:rPr lang="en-IN" sz="4400" b="1" dirty="0">
                <a:latin typeface="Times New Roman" panose="02020603050405020304" pitchFamily="18" charset="0"/>
                <a:cs typeface="Times New Roman" panose="02020603050405020304" pitchFamily="18" charset="0"/>
              </a:rPr>
              <a:t>3. Data Visualization</a:t>
            </a:r>
          </a:p>
          <a:p>
            <a:r>
              <a:rPr lang="en-IN" sz="4400" i="1" dirty="0">
                <a:latin typeface="Times New Roman" panose="02020603050405020304" pitchFamily="18" charset="0"/>
                <a:cs typeface="Times New Roman" panose="02020603050405020304" pitchFamily="18" charset="0"/>
              </a:rPr>
              <a:t>(Making insights understandable)</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Scatter plots</a:t>
            </a:r>
          </a:p>
          <a:p>
            <a:r>
              <a:rPr lang="en-IN" sz="4400" dirty="0">
                <a:latin typeface="Times New Roman" panose="02020603050405020304" pitchFamily="18" charset="0"/>
                <a:cs typeface="Times New Roman" panose="02020603050405020304" pitchFamily="18" charset="0"/>
              </a:rPr>
              <a:t>Histograms</a:t>
            </a:r>
          </a:p>
          <a:p>
            <a:r>
              <a:rPr lang="en-IN" sz="4400" dirty="0">
                <a:latin typeface="Times New Roman" panose="02020603050405020304" pitchFamily="18" charset="0"/>
                <a:cs typeface="Times New Roman" panose="02020603050405020304" pitchFamily="18" charset="0"/>
              </a:rPr>
              <a:t>Bar charts</a:t>
            </a:r>
          </a:p>
          <a:p>
            <a:r>
              <a:rPr lang="en-IN" sz="4400" dirty="0">
                <a:latin typeface="Times New Roman" panose="02020603050405020304" pitchFamily="18" charset="0"/>
                <a:cs typeface="Times New Roman" panose="02020603050405020304" pitchFamily="18" charset="0"/>
              </a:rPr>
              <a:t>Visual storytelling</a:t>
            </a:r>
          </a:p>
          <a:p>
            <a:pPr marL="0" indent="0">
              <a:buNone/>
            </a:pPr>
            <a:r>
              <a:rPr lang="en-IN" sz="4400" b="1" dirty="0">
                <a:latin typeface="Times New Roman" panose="02020603050405020304" pitchFamily="18" charset="0"/>
                <a:cs typeface="Times New Roman" panose="02020603050405020304" pitchFamily="18" charset="0"/>
              </a:rPr>
              <a:t>4. Brand &amp; Market Share Analysis</a:t>
            </a:r>
          </a:p>
          <a:p>
            <a:r>
              <a:rPr lang="en-IN" sz="4400" i="1" dirty="0">
                <a:latin typeface="Times New Roman" panose="02020603050405020304" pitchFamily="18" charset="0"/>
                <a:cs typeface="Times New Roman" panose="02020603050405020304" pitchFamily="18" charset="0"/>
              </a:rPr>
              <a:t>(Business Intelligence)</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Market concentration</a:t>
            </a:r>
          </a:p>
          <a:p>
            <a:r>
              <a:rPr lang="en-IN" sz="4400" dirty="0">
                <a:latin typeface="Times New Roman" panose="02020603050405020304" pitchFamily="18" charset="0"/>
                <a:cs typeface="Times New Roman" panose="02020603050405020304" pitchFamily="18" charset="0"/>
              </a:rPr>
              <a:t>Brand dominance</a:t>
            </a:r>
          </a:p>
          <a:p>
            <a:r>
              <a:rPr lang="en-IN" sz="4400" dirty="0">
                <a:latin typeface="Times New Roman" panose="02020603050405020304" pitchFamily="18" charset="0"/>
                <a:cs typeface="Times New Roman" panose="02020603050405020304" pitchFamily="18" charset="0"/>
              </a:rPr>
              <a:t>Competitive analysis</a:t>
            </a:r>
          </a:p>
          <a:p>
            <a:pPr marL="0" indent="0">
              <a:buNone/>
            </a:pPr>
            <a:r>
              <a:rPr lang="en-IN" sz="4400" b="1" dirty="0">
                <a:latin typeface="Times New Roman" panose="02020603050405020304" pitchFamily="18" charset="0"/>
                <a:cs typeface="Times New Roman" panose="02020603050405020304" pitchFamily="18" charset="0"/>
              </a:rPr>
              <a:t>5. Ratings &amp; Review Analytics : </a:t>
            </a:r>
            <a:r>
              <a:rPr lang="en-IN" sz="4400" i="1" dirty="0">
                <a:latin typeface="Times New Roman" panose="02020603050405020304" pitchFamily="18" charset="0"/>
                <a:cs typeface="Times New Roman" panose="02020603050405020304" pitchFamily="18" charset="0"/>
              </a:rPr>
              <a:t>(Customer Sentiment Analysis – basic level)</a:t>
            </a:r>
            <a:endParaRPr lang="en-IN" sz="4400" dirty="0">
              <a:latin typeface="Times New Roman" panose="02020603050405020304" pitchFamily="18" charset="0"/>
              <a:cs typeface="Times New Roman" panose="02020603050405020304" pitchFamily="18" charset="0"/>
            </a:endParaRPr>
          </a:p>
          <a:p>
            <a:pPr marL="0" indent="0">
              <a:buNone/>
            </a:pPr>
            <a:endParaRPr lang="en-IN" sz="4400" dirty="0">
              <a:latin typeface="Times New Roman" panose="02020603050405020304" pitchFamily="18" charset="0"/>
              <a:cs typeface="Times New Roman" panose="02020603050405020304" pitchFamily="18" charset="0"/>
            </a:endParaRPr>
          </a:p>
          <a:p>
            <a:endParaRPr lang="en-IN" sz="4400" dirty="0">
              <a:latin typeface="Times New Roman" panose="02020603050405020304" pitchFamily="18" charset="0"/>
              <a:cs typeface="Times New Roman" panose="02020603050405020304" pitchFamily="18" charset="0"/>
            </a:endParaRPr>
          </a:p>
          <a:p>
            <a:pPr marL="0" indent="0">
              <a:buNone/>
            </a:pPr>
            <a:endParaRPr lang="en-IN" sz="4400" dirty="0">
              <a:latin typeface="Times New Roman" panose="02020603050405020304" pitchFamily="18" charset="0"/>
              <a:cs typeface="Times New Roman" panose="02020603050405020304" pitchFamily="18" charset="0"/>
            </a:endParaRPr>
          </a:p>
          <a:p>
            <a:pPr marL="0" indent="0">
              <a:buNone/>
            </a:pPr>
            <a:endParaRPr lang="en-IN" b="1" dirty="0"/>
          </a:p>
        </p:txBody>
      </p:sp>
      <p:sp>
        <p:nvSpPr>
          <p:cNvPr id="5" name="Content Placeholder 4">
            <a:extLst>
              <a:ext uri="{FF2B5EF4-FFF2-40B4-BE49-F238E27FC236}">
                <a16:creationId xmlns:a16="http://schemas.microsoft.com/office/drawing/2014/main" id="{2CF71C93-9156-2265-5CD4-52A0B66BB4EC}"/>
              </a:ext>
            </a:extLst>
          </p:cNvPr>
          <p:cNvSpPr>
            <a:spLocks noGrp="1"/>
          </p:cNvSpPr>
          <p:nvPr>
            <p:ph sz="half" idx="2"/>
          </p:nvPr>
        </p:nvSpPr>
        <p:spPr>
          <a:xfrm>
            <a:off x="6172202" y="0"/>
            <a:ext cx="5726615" cy="6858001"/>
          </a:xfrm>
        </p:spPr>
        <p:txBody>
          <a:bodyPr>
            <a:normAutofit fontScale="25000" lnSpcReduction="20000"/>
          </a:bodyPr>
          <a:lstStyle/>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 : </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Rating bias</a:t>
            </a:r>
          </a:p>
          <a:p>
            <a:r>
              <a:rPr lang="en-IN" sz="4400" dirty="0">
                <a:latin typeface="Times New Roman" panose="02020603050405020304" pitchFamily="18" charset="0"/>
                <a:cs typeface="Times New Roman" panose="02020603050405020304" pitchFamily="18" charset="0"/>
              </a:rPr>
              <a:t>Quality perception</a:t>
            </a:r>
          </a:p>
          <a:p>
            <a:pPr marL="0" indent="0">
              <a:buNone/>
            </a:pPr>
            <a:r>
              <a:rPr lang="en-IN" sz="4400" b="1" dirty="0">
                <a:latin typeface="Times New Roman" panose="02020603050405020304" pitchFamily="18" charset="0"/>
                <a:cs typeface="Times New Roman" panose="02020603050405020304" pitchFamily="18" charset="0"/>
              </a:rPr>
              <a:t>6. Discount &amp; Pricing Strategy Analysis</a:t>
            </a:r>
          </a:p>
          <a:p>
            <a:r>
              <a:rPr lang="en-IN" sz="4400" i="1" dirty="0">
                <a:latin typeface="Times New Roman" panose="02020603050405020304" pitchFamily="18" charset="0"/>
                <a:cs typeface="Times New Roman" panose="02020603050405020304" pitchFamily="18" charset="0"/>
              </a:rPr>
              <a:t>(E-commerce Strategy)</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Pricing psychology</a:t>
            </a:r>
          </a:p>
          <a:p>
            <a:r>
              <a:rPr lang="en-IN" sz="4400" dirty="0">
                <a:latin typeface="Times New Roman" panose="02020603050405020304" pitchFamily="18" charset="0"/>
                <a:cs typeface="Times New Roman" panose="02020603050405020304" pitchFamily="18" charset="0"/>
              </a:rPr>
              <a:t>Discount effectiveness</a:t>
            </a:r>
          </a:p>
          <a:p>
            <a:r>
              <a:rPr lang="en-IN" sz="4400" dirty="0">
                <a:latin typeface="Times New Roman" panose="02020603050405020304" pitchFamily="18" charset="0"/>
                <a:cs typeface="Times New Roman" panose="02020603050405020304" pitchFamily="18" charset="0"/>
              </a:rPr>
              <a:t>Elasticity (basic inference)</a:t>
            </a:r>
          </a:p>
          <a:p>
            <a:r>
              <a:rPr lang="en-IN" sz="4400" dirty="0">
                <a:latin typeface="Times New Roman" panose="02020603050405020304" pitchFamily="18" charset="0"/>
                <a:cs typeface="Times New Roman" panose="02020603050405020304" pitchFamily="18" charset="0"/>
              </a:rPr>
              <a:t>Promotional strategy analysis</a:t>
            </a:r>
          </a:p>
          <a:p>
            <a:pPr marL="0" indent="0">
              <a:buNone/>
            </a:pPr>
            <a:r>
              <a:rPr lang="en-IN" sz="4400" b="1" dirty="0">
                <a:latin typeface="Times New Roman" panose="02020603050405020304" pitchFamily="18" charset="0"/>
                <a:cs typeface="Times New Roman" panose="02020603050405020304" pitchFamily="18" charset="0"/>
              </a:rPr>
              <a:t>7. Product Feature &amp; Keyword Analysis</a:t>
            </a:r>
          </a:p>
          <a:p>
            <a:r>
              <a:rPr lang="en-IN" sz="4400" i="1" dirty="0">
                <a:latin typeface="Times New Roman" panose="02020603050405020304" pitchFamily="18" charset="0"/>
                <a:cs typeface="Times New Roman" panose="02020603050405020304" pitchFamily="18" charset="0"/>
              </a:rPr>
              <a:t>(Text &amp; Feature Analytics – beginner level)</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Keyword matching</a:t>
            </a:r>
          </a:p>
          <a:p>
            <a:r>
              <a:rPr lang="en-IN" sz="4400" dirty="0">
                <a:latin typeface="Times New Roman" panose="02020603050405020304" pitchFamily="18" charset="0"/>
                <a:cs typeface="Times New Roman" panose="02020603050405020304" pitchFamily="18" charset="0"/>
              </a:rPr>
              <a:t>Feature engineering</a:t>
            </a:r>
          </a:p>
          <a:p>
            <a:r>
              <a:rPr lang="en-IN" sz="4400" dirty="0">
                <a:latin typeface="Times New Roman" panose="02020603050405020304" pitchFamily="18" charset="0"/>
                <a:cs typeface="Times New Roman" panose="02020603050405020304" pitchFamily="18" charset="0"/>
              </a:rPr>
              <a:t>Value gap analysis</a:t>
            </a:r>
          </a:p>
          <a:p>
            <a:pPr marL="0" indent="0">
              <a:buNone/>
            </a:pPr>
            <a:r>
              <a:rPr lang="en-IN" sz="4400" b="1" dirty="0">
                <a:latin typeface="Times New Roman" panose="02020603050405020304" pitchFamily="18" charset="0"/>
                <a:cs typeface="Times New Roman" panose="02020603050405020304" pitchFamily="18" charset="0"/>
              </a:rPr>
              <a:t>8. Logistics &amp; Availability Analysis</a:t>
            </a:r>
          </a:p>
          <a:p>
            <a:r>
              <a:rPr lang="en-IN" sz="4400" i="1" dirty="0">
                <a:latin typeface="Times New Roman" panose="02020603050405020304" pitchFamily="18" charset="0"/>
                <a:cs typeface="Times New Roman" panose="02020603050405020304" pitchFamily="18" charset="0"/>
              </a:rPr>
              <a:t>(Operations Analytics)</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Supply chain signals</a:t>
            </a:r>
          </a:p>
          <a:p>
            <a:r>
              <a:rPr lang="en-IN" sz="4400" dirty="0">
                <a:latin typeface="Times New Roman" panose="02020603050405020304" pitchFamily="18" charset="0"/>
                <a:cs typeface="Times New Roman" panose="02020603050405020304" pitchFamily="18" charset="0"/>
              </a:rPr>
              <a:t>Regional delivery differences</a:t>
            </a:r>
          </a:p>
          <a:p>
            <a:r>
              <a:rPr lang="en-IN" sz="4400" dirty="0">
                <a:latin typeface="Times New Roman" panose="02020603050405020304" pitchFamily="18" charset="0"/>
                <a:cs typeface="Times New Roman" panose="02020603050405020304" pitchFamily="18" charset="0"/>
              </a:rPr>
              <a:t>Demand vs availability</a:t>
            </a:r>
          </a:p>
          <a:p>
            <a:pPr marL="0" indent="0">
              <a:buNone/>
            </a:pPr>
            <a:r>
              <a:rPr lang="en-IN" sz="4400" b="1" dirty="0">
                <a:latin typeface="Times New Roman" panose="02020603050405020304" pitchFamily="18" charset="0"/>
                <a:cs typeface="Times New Roman" panose="02020603050405020304" pitchFamily="18" charset="0"/>
              </a:rPr>
              <a:t>9. Business &amp; Strategic Insights</a:t>
            </a:r>
          </a:p>
          <a:p>
            <a:r>
              <a:rPr lang="en-IN" sz="4400" i="1" dirty="0">
                <a:latin typeface="Times New Roman" panose="02020603050405020304" pitchFamily="18" charset="0"/>
                <a:cs typeface="Times New Roman" panose="02020603050405020304" pitchFamily="18" charset="0"/>
              </a:rPr>
              <a:t>(Higher-level interpretation)</a:t>
            </a:r>
            <a:endParaRPr lang="en-IN" sz="4400" dirty="0">
              <a:latin typeface="Times New Roman" panose="02020603050405020304" pitchFamily="18" charset="0"/>
              <a:cs typeface="Times New Roman" panose="02020603050405020304" pitchFamily="18" charset="0"/>
            </a:endParaRPr>
          </a:p>
          <a:p>
            <a:pPr marL="0" indent="0">
              <a:buNone/>
            </a:pPr>
            <a:r>
              <a:rPr lang="en-IN" sz="4400"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Concepts Covered</a:t>
            </a:r>
            <a:endParaRPr lang="en-IN" sz="4400" dirty="0">
              <a:latin typeface="Times New Roman" panose="02020603050405020304" pitchFamily="18" charset="0"/>
              <a:cs typeface="Times New Roman" panose="02020603050405020304" pitchFamily="18" charset="0"/>
            </a:endParaRPr>
          </a:p>
          <a:p>
            <a:r>
              <a:rPr lang="en-IN" sz="4400" dirty="0">
                <a:latin typeface="Times New Roman" panose="02020603050405020304" pitchFamily="18" charset="0"/>
                <a:cs typeface="Times New Roman" panose="02020603050405020304" pitchFamily="18" charset="0"/>
              </a:rPr>
              <a:t>Business decision-making</a:t>
            </a:r>
          </a:p>
          <a:p>
            <a:r>
              <a:rPr lang="en-IN" sz="4400" dirty="0">
                <a:latin typeface="Times New Roman" panose="02020603050405020304" pitchFamily="18" charset="0"/>
                <a:cs typeface="Times New Roman" panose="02020603050405020304" pitchFamily="18" charset="0"/>
              </a:rPr>
              <a:t>Market opportunity identification</a:t>
            </a:r>
          </a:p>
          <a:p>
            <a:r>
              <a:rPr lang="en-IN" sz="4400" dirty="0">
                <a:latin typeface="Times New Roman" panose="02020603050405020304" pitchFamily="18" charset="0"/>
                <a:cs typeface="Times New Roman" panose="02020603050405020304" pitchFamily="18" charset="0"/>
              </a:rPr>
              <a:t>Strategy formulation</a:t>
            </a:r>
          </a:p>
          <a:p>
            <a:endParaRPr lang="en-IN" sz="4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13622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8A759B5-3160-D942-E815-BFB054E8EED5}"/>
              </a:ext>
            </a:extLst>
          </p:cNvPr>
          <p:cNvSpPr>
            <a:spLocks noGrp="1" noChangeArrowheads="1"/>
          </p:cNvSpPr>
          <p:nvPr>
            <p:ph idx="1"/>
          </p:nvPr>
        </p:nvSpPr>
        <p:spPr bwMode="auto">
          <a:xfrm>
            <a:off x="804887" y="454144"/>
            <a:ext cx="846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IN" sz="1800" b="1" dirty="0">
                <a:latin typeface="Times New Roman" panose="02020603050405020304" pitchFamily="18" charset="0"/>
                <a:cs typeface="Times New Roman" panose="02020603050405020304" pitchFamily="18" charset="0"/>
              </a:rPr>
              <a:t>Python Libraries &amp; Tools</a:t>
            </a:r>
            <a:r>
              <a:rPr lang="en-US" sz="1800" b="1" dirty="0">
                <a:latin typeface="Times New Roman" panose="02020603050405020304" pitchFamily="18" charset="0"/>
                <a:cs typeface="Times New Roman" panose="02020603050405020304" pitchFamily="18" charset="0"/>
              </a:rPr>
              <a:t> used</a:t>
            </a:r>
            <a:r>
              <a:rPr lang="en-US" sz="1800" dirty="0">
                <a:latin typeface="Times New Roman" panose="02020603050405020304" pitchFamily="18" charset="0"/>
                <a:cs typeface="Times New Roman" panose="02020603050405020304" pitchFamily="18" charset="0"/>
              </a:rPr>
              <a:t> in your </a:t>
            </a:r>
            <a:r>
              <a:rPr lang="en-US" sz="1800" b="1" dirty="0">
                <a:latin typeface="Times New Roman" panose="02020603050405020304" pitchFamily="18" charset="0"/>
                <a:cs typeface="Times New Roman" panose="02020603050405020304" pitchFamily="18" charset="0"/>
              </a:rPr>
              <a:t>Flipkart E-commerce Web Scraping :</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17924C3-336E-E21A-2793-6C70DFC591A3}"/>
              </a:ext>
            </a:extLst>
          </p:cNvPr>
          <p:cNvSpPr txBox="1"/>
          <p:nvPr/>
        </p:nvSpPr>
        <p:spPr>
          <a:xfrm>
            <a:off x="804887" y="1038496"/>
            <a:ext cx="6097656" cy="6001643"/>
          </a:xfrm>
          <a:prstGeom prst="rect">
            <a:avLst/>
          </a:prstGeom>
          <a:noFill/>
        </p:spPr>
        <p:txBody>
          <a:bodyPr wrap="square">
            <a:spAutoFit/>
          </a:bodyPr>
          <a:lstStyle/>
          <a:p>
            <a:pPr>
              <a:buNone/>
            </a:pPr>
            <a:r>
              <a:rPr lang="en-IN" sz="1600" dirty="0">
                <a:latin typeface="Times New Roman" panose="02020603050405020304" pitchFamily="18" charset="0"/>
                <a:cs typeface="Times New Roman" panose="02020603050405020304" pitchFamily="18" charset="0"/>
              </a:rPr>
              <a:t>1. Programming Language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Python</a:t>
            </a:r>
          </a:p>
          <a:p>
            <a:pPr>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2. Web Scraping Tools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Requests</a:t>
            </a:r>
          </a:p>
          <a:p>
            <a:pPr marL="285750"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BeautifulSoup</a:t>
            </a:r>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Data Handling &amp; Analysis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Pandas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NumPy</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Data Visualization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Matplotlib</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5. Development Environment</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Jupyter</a:t>
            </a:r>
            <a:r>
              <a:rPr lang="en-IN" sz="1600" dirty="0">
                <a:latin typeface="Times New Roman" panose="02020603050405020304" pitchFamily="18" charset="0"/>
                <a:cs typeface="Times New Roman" panose="02020603050405020304" pitchFamily="18" charset="0"/>
              </a:rPr>
              <a:t> Notebook</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6. Data Storage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CSV Files</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3018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80FD7C-822C-A647-57C4-747CEAFE542F}"/>
              </a:ext>
            </a:extLst>
          </p:cNvPr>
          <p:cNvSpPr>
            <a:spLocks noGrp="1"/>
          </p:cNvSpPr>
          <p:nvPr>
            <p:ph idx="4294967295"/>
          </p:nvPr>
        </p:nvSpPr>
        <p:spPr>
          <a:xfrm>
            <a:off x="533400" y="248834"/>
            <a:ext cx="10515600" cy="6075363"/>
          </a:xfrm>
        </p:spPr>
        <p:txBody>
          <a:bodyPr/>
          <a:lstStyle/>
          <a:p>
            <a:pPr marL="0" indent="0">
              <a:buNone/>
            </a:pPr>
            <a:r>
              <a:rPr lang="en-IN" dirty="0"/>
              <a:t>Pipe Line :</a:t>
            </a:r>
          </a:p>
        </p:txBody>
      </p:sp>
      <p:sp>
        <p:nvSpPr>
          <p:cNvPr id="4" name="Rectangle 3">
            <a:extLst>
              <a:ext uri="{FF2B5EF4-FFF2-40B4-BE49-F238E27FC236}">
                <a16:creationId xmlns:a16="http://schemas.microsoft.com/office/drawing/2014/main" id="{51E5E67C-0F10-E4DB-4AC9-F8364E91BD56}"/>
              </a:ext>
            </a:extLst>
          </p:cNvPr>
          <p:cNvSpPr/>
          <p:nvPr/>
        </p:nvSpPr>
        <p:spPr>
          <a:xfrm>
            <a:off x="4561840" y="516212"/>
            <a:ext cx="2072640" cy="645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Web Scraping</a:t>
            </a:r>
          </a:p>
        </p:txBody>
      </p:sp>
      <p:sp>
        <p:nvSpPr>
          <p:cNvPr id="5" name="Arrow: Down 4">
            <a:extLst>
              <a:ext uri="{FF2B5EF4-FFF2-40B4-BE49-F238E27FC236}">
                <a16:creationId xmlns:a16="http://schemas.microsoft.com/office/drawing/2014/main" id="{2145BF4F-3180-705B-F80E-B3292865EB08}"/>
              </a:ext>
            </a:extLst>
          </p:cNvPr>
          <p:cNvSpPr/>
          <p:nvPr/>
        </p:nvSpPr>
        <p:spPr>
          <a:xfrm>
            <a:off x="5405120" y="1200503"/>
            <a:ext cx="386080" cy="4861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52E3024-FCFE-47CB-D70E-272320AC0A9B}"/>
              </a:ext>
            </a:extLst>
          </p:cNvPr>
          <p:cNvSpPr/>
          <p:nvPr/>
        </p:nvSpPr>
        <p:spPr>
          <a:xfrm>
            <a:off x="4561840" y="1746361"/>
            <a:ext cx="2072640" cy="645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Data Collection</a:t>
            </a:r>
          </a:p>
        </p:txBody>
      </p:sp>
      <p:sp>
        <p:nvSpPr>
          <p:cNvPr id="8" name="Arrow: Down 7">
            <a:extLst>
              <a:ext uri="{FF2B5EF4-FFF2-40B4-BE49-F238E27FC236}">
                <a16:creationId xmlns:a16="http://schemas.microsoft.com/office/drawing/2014/main" id="{B8E39AB4-56C0-24B1-0134-7A121784C898}"/>
              </a:ext>
            </a:extLst>
          </p:cNvPr>
          <p:cNvSpPr/>
          <p:nvPr/>
        </p:nvSpPr>
        <p:spPr>
          <a:xfrm>
            <a:off x="5415280" y="2417850"/>
            <a:ext cx="386080" cy="4861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0FE54284-D0F0-01DA-A611-4539BEF7CB09}"/>
              </a:ext>
            </a:extLst>
          </p:cNvPr>
          <p:cNvSpPr/>
          <p:nvPr/>
        </p:nvSpPr>
        <p:spPr>
          <a:xfrm>
            <a:off x="4500880" y="2963708"/>
            <a:ext cx="2072640" cy="645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Data Cleaning &amp; Preprocessing</a:t>
            </a:r>
          </a:p>
        </p:txBody>
      </p:sp>
      <p:sp>
        <p:nvSpPr>
          <p:cNvPr id="10" name="Arrow: Down 9">
            <a:extLst>
              <a:ext uri="{FF2B5EF4-FFF2-40B4-BE49-F238E27FC236}">
                <a16:creationId xmlns:a16="http://schemas.microsoft.com/office/drawing/2014/main" id="{A5CAEBBB-469F-31F3-E644-3EC9CC42AABB}"/>
              </a:ext>
            </a:extLst>
          </p:cNvPr>
          <p:cNvSpPr/>
          <p:nvPr/>
        </p:nvSpPr>
        <p:spPr>
          <a:xfrm>
            <a:off x="5415280" y="3669064"/>
            <a:ext cx="386080" cy="4861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F4FE577-B6A4-2576-ED95-380F345CE751}"/>
              </a:ext>
            </a:extLst>
          </p:cNvPr>
          <p:cNvSpPr/>
          <p:nvPr/>
        </p:nvSpPr>
        <p:spPr>
          <a:xfrm>
            <a:off x="4561840" y="4181055"/>
            <a:ext cx="2072640" cy="645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Data Visualization</a:t>
            </a:r>
          </a:p>
        </p:txBody>
      </p:sp>
      <p:sp>
        <p:nvSpPr>
          <p:cNvPr id="12" name="Arrow: Down 11">
            <a:extLst>
              <a:ext uri="{FF2B5EF4-FFF2-40B4-BE49-F238E27FC236}">
                <a16:creationId xmlns:a16="http://schemas.microsoft.com/office/drawing/2014/main" id="{1EEB927D-C953-9C9A-91AB-7742D046CF9F}"/>
              </a:ext>
            </a:extLst>
          </p:cNvPr>
          <p:cNvSpPr/>
          <p:nvPr/>
        </p:nvSpPr>
        <p:spPr>
          <a:xfrm>
            <a:off x="5405120" y="4865346"/>
            <a:ext cx="386080" cy="4861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F01AF7D-7181-32E3-5B9B-557ED44126A8}"/>
              </a:ext>
            </a:extLst>
          </p:cNvPr>
          <p:cNvSpPr/>
          <p:nvPr/>
        </p:nvSpPr>
        <p:spPr>
          <a:xfrm>
            <a:off x="4500880" y="5398402"/>
            <a:ext cx="2072640" cy="645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Data Analysis</a:t>
            </a:r>
          </a:p>
        </p:txBody>
      </p:sp>
    </p:spTree>
    <p:extLst>
      <p:ext uri="{BB962C8B-B14F-4D97-AF65-F5344CB8AC3E}">
        <p14:creationId xmlns:p14="http://schemas.microsoft.com/office/powerpoint/2010/main" val="84784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189DF-80BF-4B09-292F-D711DAABEA3A}"/>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Insights :</a:t>
            </a:r>
          </a:p>
        </p:txBody>
      </p:sp>
      <p:sp>
        <p:nvSpPr>
          <p:cNvPr id="3" name="Content Placeholder 2">
            <a:extLst>
              <a:ext uri="{FF2B5EF4-FFF2-40B4-BE49-F238E27FC236}">
                <a16:creationId xmlns:a16="http://schemas.microsoft.com/office/drawing/2014/main" id="{C391ED24-1A79-A32B-C122-838AFF8B3117}"/>
              </a:ext>
            </a:extLst>
          </p:cNvPr>
          <p:cNvSpPr>
            <a:spLocks noGrp="1"/>
          </p:cNvSpPr>
          <p:nvPr>
            <p:ph idx="1"/>
          </p:nvPr>
        </p:nvSpPr>
        <p:spPr>
          <a:xfrm>
            <a:off x="838200" y="1920241"/>
            <a:ext cx="10515600" cy="2712720"/>
          </a:xfrm>
        </p:spPr>
        <p:txBody>
          <a:bodyPr>
            <a:normAutofit/>
          </a:bodyPr>
          <a:lstStyle/>
          <a:p>
            <a:r>
              <a:rPr lang="en-US" sz="1600" dirty="0">
                <a:latin typeface="Times New Roman" panose="02020603050405020304" pitchFamily="18" charset="0"/>
                <a:cs typeface="Times New Roman" panose="02020603050405020304" pitchFamily="18" charset="0"/>
              </a:rPr>
              <a:t>Prices on the first page show high variance , indicating mixed placement of budget and premium products.</a:t>
            </a:r>
          </a:p>
          <a:p>
            <a:r>
              <a:rPr lang="en-US" sz="1600" dirty="0">
                <a:latin typeface="Times New Roman" panose="02020603050405020304" pitchFamily="18" charset="0"/>
                <a:cs typeface="Times New Roman" panose="02020603050405020304" pitchFamily="18" charset="0"/>
              </a:rPr>
              <a:t>A higher standard deviation suggests that Page 3 contains a mix of budget and premium products, while a lower standard deviation indicates that most products are priced within a similar range.</a:t>
            </a:r>
          </a:p>
          <a:p>
            <a:r>
              <a:rPr lang="en-US" sz="1600" dirty="0">
                <a:latin typeface="Times New Roman" panose="02020603050405020304" pitchFamily="18" charset="0"/>
                <a:cs typeface="Times New Roman" panose="02020603050405020304" pitchFamily="18" charset="0"/>
              </a:rPr>
              <a:t>The price distribution shows a wide spread, indicating the presence of both budget and premium products in the selected category. The minimum price corresponds to entry-level products, while the maximum price represents high-end offerings. The average price lies in the mid-range, suggesting that most products are moderately priced rather than concentrated at extreme price points.</a:t>
            </a:r>
          </a:p>
          <a:p>
            <a:r>
              <a:rPr lang="en-US" sz="1600" dirty="0">
                <a:latin typeface="Times New Roman" panose="02020603050405020304" pitchFamily="18" charset="0"/>
                <a:cs typeface="Times New Roman" panose="02020603050405020304" pitchFamily="18" charset="0"/>
              </a:rPr>
              <a:t>The relationship between listed discount percentage and rating score is generally weak to slightly negative. Products with higher discounts often tend to have slightly lower ratings, while highly rated products usually offer moderate or lower discounts.</a:t>
            </a:r>
          </a:p>
          <a:p>
            <a:endParaRPr lang="en-US"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62620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Rounded 3">
            <a:extLst>
              <a:ext uri="{FF2B5EF4-FFF2-40B4-BE49-F238E27FC236}">
                <a16:creationId xmlns:a16="http://schemas.microsoft.com/office/drawing/2014/main" id="{F83335FA-FB71-6DA4-A80D-627D926F81CE}"/>
              </a:ext>
            </a:extLst>
          </p:cNvPr>
          <p:cNvSpPr/>
          <p:nvPr/>
        </p:nvSpPr>
        <p:spPr>
          <a:xfrm>
            <a:off x="3271520" y="1737360"/>
            <a:ext cx="5567680" cy="2448560"/>
          </a:xfrm>
          <a:prstGeom prst="round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6000" b="1" dirty="0">
                <a:solidFill>
                  <a:schemeClr val="bg1"/>
                </a:solidFill>
                <a:latin typeface="Chiller" panose="04020404031007020602" pitchFamily="82" charset="0"/>
                <a:ea typeface="MS Gothic" panose="020B0609070205080204" pitchFamily="49" charset="-128"/>
              </a:rPr>
              <a:t>THANK YOU</a:t>
            </a:r>
          </a:p>
        </p:txBody>
      </p:sp>
    </p:spTree>
    <p:extLst>
      <p:ext uri="{BB962C8B-B14F-4D97-AF65-F5344CB8AC3E}">
        <p14:creationId xmlns:p14="http://schemas.microsoft.com/office/powerpoint/2010/main" val="904601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Presentation1</Template>
  <TotalTime>1</TotalTime>
  <Words>573</Words>
  <Application>Microsoft Office PowerPoint</Application>
  <PresentationFormat>Widescreen</PresentationFormat>
  <Paragraphs>119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Chiller</vt:lpstr>
      <vt:lpstr>Times New Roman</vt:lpstr>
      <vt:lpstr>Office Theme</vt:lpstr>
      <vt:lpstr>PowerPoint Presentation</vt:lpstr>
      <vt:lpstr>PowerPoint Presentation</vt:lpstr>
      <vt:lpstr>PowerPoint Presentation</vt:lpstr>
      <vt:lpstr>PowerPoint Presentation</vt:lpstr>
      <vt:lpstr>PowerPoint Presentation</vt:lpstr>
      <vt:lpstr>Insights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Jyothi vajja</dc:creator>
  <cp:lastModifiedBy>Jyothi vajja</cp:lastModifiedBy>
  <cp:revision>1</cp:revision>
  <dcterms:created xsi:type="dcterms:W3CDTF">2026-01-22T14:13:06Z</dcterms:created>
  <dcterms:modified xsi:type="dcterms:W3CDTF">2026-01-22T17:20:02Z</dcterms:modified>
</cp:coreProperties>
</file>